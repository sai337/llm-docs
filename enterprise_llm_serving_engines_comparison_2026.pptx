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https://docs.vllm.ai/en/latest/
- https://docs.sglang.io/get_started/install.html
- https://nvidia.github.io/TensorRT-LLM/
- https://lmdeploy.readthedocs.io/en/latest/
- https://github.com/ggml-org/llama.cpp
- https://huggingface.co/docs/text-generation-inference/index
- https://docs.ray.io/en/latest/serve/llm/
- https://docs.nvidia.com/deeplearning/triton-inference-server/user-guide/docs/index.html
- https://llm.mlc.ai/
- https://github.com/deepspeedai/DeepSpeed-MII
- https://docs.djl.ai/master/docs/serving/serving/docs/lmi/index.html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https://docs.vllm.ai/en/latest/
- https://docs.sglang.io/get_started/install.html
- https://nvidia.github.io/TensorRT-LLM/overview.html
- https://lmdeploy.readthedocs.io/en/latest/
- https://github.com/ggml-org/llama.cpp
- https://huggingface.co/docs/text-generation-inference/index
- https://huggingface.co/docs/text-generation-inference/conceptual/tgi_v3_update
- https://docs.ray.io/en/latest/serve/llm/
- https://docs.nvidia.com/deeplearning/triton-inference-server/user-guide/docs/index.html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https://docs.vllm.ai/en/latest/
- https://docs.vllm.ai/en/latest/features/structured_outputs/
- https://docs.vllm.ai/en/stable/features/lora.html
- https://docs.vllm.ai/en/v0.8.0/serving/distributed_serving.html
- https://docs.sglang.io/
- https://docs.sglang.io/get_started/install.html
- https://nvidia.github.io/TensorRT-LLM/overview.html
- https://github.com/NVIDIA/TensorRT-LLM/blob/main/docs/source/features/guided-decoding.md
- https://lmdeploy.readthedocs.io/en/latest/llm/api_server.html
- https://lmdeploy.readthedocs.io/en/latest/advance/structed_output.html
- https://github.com/InternLM/lmdeploy
- https://github.com/ggml-org/llama.cpp
- https://github.com/ggml-org/llama.cpp/blob/master/tools/server/README.md
- https://github.com/ggml-org/llama.cpp/blob/master/docs/function-calling.md
- https://huggingface.co/docs/text-generation-inference/index
- https://huggingface.co/docs/text-generation-inference/guidance
- https://huggingface.co/docs/text-generation-inference/conceptual/lora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https://docs.vllm.ai/en/stable/getting_started/installation/
- https://docs.vllm.ai/en/stable/getting_started/installation/cpu/
- https://docs.sglang.io/get_started/install.html
- https://docs.sglang.io/get_started/intel_xeon.html
- https://nvidia.github.io/TensorRT-LLM/supported-hardware.html
- https://lmdeploy.readthedocs.io/en/latest/get_started/installation.html
- https://lmdeploy.readthedocs.io/en/0.6.5/get_started/ascend/get_started.html
- https://github.com/ggml-org/llama.cpp
- https://github.com/ggml-org/llama.cpp/blob/master/docs/backend/SYCL.md
- https://huggingface.co/docs/text-generation-inference/index
- https://huggingface.co/docs/text-generation-inference/architecture
- https://huggingface.co/docs/text-generation-inference/installation_intel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https://docs.ray.io/en/latest/serve/llm/
- https://docs.ray.io/en/latest/serve/llm/architecture/architecture.html
- https://docs.ray.io/en/latest/serve/llm/user-guides/prefix-aware-routing.html
- https://docs.ray.io/en/latest/serve/index.html
- https://docs.nvidia.com/deeplearning/triton-inference-server/user-guide/docs/index.html
- https://docs.nvidia.com/deeplearning/triton-inference-server/user-guide/docs/tutorials/Deployment/Kubernetes/TensorRT-LLM_Autoscaling_and_Load_Balancing/README.html
- https://docs.nvidia.com/deeplearning/triton-inference-server/user-guide/docs/user_guide/metrics.html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https://docs.vllm.ai/en/latest/
- https://docs.sglang.io/
- https://nvidia.github.io/TensorRT-LLM/overview.html
- https://github.com/ggml-org/llama.cpp
- https://docs.ray.io/en/latest/serve/llm/
- https://huggingface.co/docs/text-generation-inference/index
- https://huggingface.co/docs/text-generation-inference/conceptual/tgi_v3_update
- https://docs.nvidia.com/deeplearning/triton-inference-server/user-guide/docs/index.html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https://docs.vllm.ai/en/latest/
- https://docs.sglang.io/
- https://nvidia.github.io/TensorRT-LLM/overview.html
- https://github.com/ggml-org/llama.cpp
- https://docs.ray.io/en/latest/serve/llm/
- https://docs.nvidia.com/deeplearning/triton-inference-server/user-guide/docs/index.html
- https://huggingface.co/docs/text-generation-inference/conceptual/tgi_v3_update
- https://docs.vllm.ai/en/stable/getting_started/installation/cpu/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pic>
        <p:nvPicPr>
          <p:cNvPr id="4" name="Image 0" descr="/mnt/data/a_digital_illustration_in_a_futuristic_style_showc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11D">
              <a:alpha val="66000"/>
            </a:srgbClr>
          </a:solidFill>
          <a:ln w="12700">
            <a:solidFill>
              <a:srgbClr val="05111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85800"/>
            <a:ext cx="5212080" cy="5349240"/>
          </a:xfrm>
          <a:prstGeom prst="roundRect">
            <a:avLst>
              <a:gd name="adj" fmla="val 1053"/>
            </a:avLst>
          </a:prstGeom>
          <a:solidFill>
            <a:srgbClr val="06131F">
              <a:alpha val="82000"/>
            </a:srgbClr>
          </a:solidFill>
          <a:ln w="12700">
            <a:solidFill>
              <a:srgbClr val="41C4F2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941832"/>
            <a:ext cx="1627632" cy="310896"/>
          </a:xfrm>
          <a:prstGeom prst="roundRect">
            <a:avLst>
              <a:gd name="adj" fmla="val 14706"/>
            </a:avLst>
          </a:prstGeom>
          <a:solidFill>
            <a:srgbClr val="41C4F2"/>
          </a:solidFill>
          <a:ln w="12700">
            <a:solidFill>
              <a:srgbClr val="41C4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95097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due diligence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1389888"/>
            <a:ext cx="448056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comparison of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self-hosted LLM serving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68096" y="2761488"/>
            <a:ext cx="443484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2F6FA"/>
                </a:solidFill>
              </a:rPr>
              <a:t>What is actually production-worthy today, where each engine is strong, and where wrappers/control planes change the answer.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3730752"/>
            <a:ext cx="448056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B14F"/>
                </a:solidFill>
              </a:rPr>
              <a:t>● </a:t>
            </a:r>
            <a:pPr indent="0" marL="0">
              <a:buNone/>
            </a:pPr>
            <a:r>
              <a:rPr lang="en-US" sz="1500" dirty="0">
                <a:solidFill>
                  <a:srgbClr val="F2F6FA"/>
                </a:solidFill>
              </a:rPr>
              <a:t>Separated inference kernels from serving/control planes.
</a:t>
            </a:r>
            <a:pPr indent="0" marL="0">
              <a:buNone/>
            </a:pPr>
            <a:r>
              <a:rPr lang="en-US" sz="1500" b="1" dirty="0">
                <a:solidFill>
                  <a:srgbClr val="F8B14F"/>
                </a:solidFill>
              </a:rPr>
              <a:t>● </a:t>
            </a:r>
            <a:pPr indent="0" marL="0">
              <a:buNone/>
            </a:pPr>
            <a:r>
              <a:rPr lang="en-US" sz="1500" dirty="0">
                <a:solidFill>
                  <a:srgbClr val="F2F6FA"/>
                </a:solidFill>
              </a:rPr>
              <a:t>Used primary docs first; avoided vendor benchmark claims for ranking.
</a:t>
            </a:r>
            <a:pPr indent="0" marL="0">
              <a:buNone/>
            </a:pPr>
            <a:r>
              <a:rPr lang="en-US" sz="1500" b="1" dirty="0">
                <a:solidFill>
                  <a:srgbClr val="F8B14F"/>
                </a:solidFill>
              </a:rPr>
              <a:t>● </a:t>
            </a:r>
            <a:pPr indent="0" marL="0">
              <a:buNone/>
            </a:pPr>
            <a:r>
              <a:rPr lang="en-US" sz="1500" dirty="0">
                <a:solidFill>
                  <a:srgbClr val="F2F6FA"/>
                </a:solidFill>
              </a:rPr>
              <a:t>Scored for feature depth, hardware reach, and enterprise operations.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86384" y="50840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5DD66B"/>
          </a:solidFill>
          <a:ln w="12700">
            <a:solidFill>
              <a:srgbClr val="5DD6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5093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622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pick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2176272" y="5102352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2F6FA"/>
                </a:solidFill>
              </a:rPr>
              <a:t>vLLM or SGLang for most greenfield clusters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786384" y="5486400"/>
            <a:ext cx="1335024" cy="292608"/>
          </a:xfrm>
          <a:prstGeom prst="roundRect">
            <a:avLst>
              <a:gd name="adj" fmla="val 15625"/>
            </a:avLst>
          </a:prstGeom>
          <a:solidFill>
            <a:srgbClr val="9A8CFF"/>
          </a:solidFill>
          <a:ln w="12700">
            <a:solidFill>
              <a:srgbClr val="9A8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5495544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1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cases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2176272" y="55138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DC5D8"/>
                </a:solidFill>
              </a:rPr>
              <a:t>TensorRT-LLM for NVIDIA-only max perf; llama.cpp for CPU/edge portability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768096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6C8D7"/>
                </a:solidFill>
              </a:rPr>
              <a:t>Screened as of March 22, 2026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10195560" y="623620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20" dirty="0">
                <a:solidFill>
                  <a:srgbClr val="B6C8D7"/>
                </a:solidFill>
              </a:rPr>
              <a:t>Reusable internal briefing deck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Scope and methodology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Primary docs only. Kernels and control planes are compared separately because they solve different problems.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3657600" cy="1956816"/>
          </a:xfrm>
          <a:prstGeom prst="roundRect">
            <a:avLst>
              <a:gd name="adj" fmla="val 2804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44168"/>
            <a:ext cx="336499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In-scope kernels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609344"/>
            <a:ext cx="3364992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vLLM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SGLang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TensorRT-LLM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LMDeploy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llama.cpp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Text Generation Inference (TGI)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70832" y="1225296"/>
            <a:ext cx="2834640" cy="1956816"/>
          </a:xfrm>
          <a:prstGeom prst="roundRect">
            <a:avLst>
              <a:gd name="adj" fmla="val 2804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344168"/>
            <a:ext cx="254203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Serving / control planes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7136" y="1609344"/>
            <a:ext cx="2542032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Ray Serve LLM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NVIDIA Triton Inference Server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342632" y="1225296"/>
            <a:ext cx="4279392" cy="1956816"/>
          </a:xfrm>
          <a:prstGeom prst="roundRect">
            <a:avLst>
              <a:gd name="adj" fmla="val 2804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88936" y="1344168"/>
            <a:ext cx="3986784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Screened but not elevated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88936" y="1609344"/>
            <a:ext cx="3986784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MLC-LLM, DeepSpeed-MII/FastGen, DJL LMI containers, and generic KServe wrappers were reviewed, but treated as secondary because they are wrappers, more niche, or weaker greenfield standards today.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66928" y="3429000"/>
            <a:ext cx="11064240" cy="2450592"/>
          </a:xfrm>
          <a:prstGeom prst="roundRect">
            <a:avLst>
              <a:gd name="adj" fmla="val 2239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547872"/>
            <a:ext cx="1077163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How the due diligence was done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" y="3803904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41C4F2"/>
          </a:solidFill>
          <a:ln w="12700">
            <a:solidFill>
              <a:srgbClr val="41C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13048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47088" y="37673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Separate kernel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from wrapper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59536" y="4389120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DC5D8"/>
                </a:solidFill>
              </a:rPr>
              <a:t>If the product is mainly a model server, router, or container layer around another engine, it was not scored as a direct kernel equivalent.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3584448" y="3803904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38C9BF"/>
          </a:solidFill>
          <a:ln w="12700">
            <a:solidFill>
              <a:srgbClr val="38C9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3813048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37673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Score capabilities,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not hype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3602736" y="4389120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DC5D8"/>
                </a:solidFill>
              </a:rPr>
              <a:t>OpenAI-compatible API, streaming, batching, prefix/KV reuse, structured outputs, distributed parallelism, LoRA, and observability all counted.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6327648" y="3803904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F8B14F"/>
          </a:solidFill>
          <a:ln w="12700">
            <a:solidFill>
              <a:srgbClr val="F8B1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813048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33488" y="37673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Penalize weak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support language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6345936" y="4389120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DC5D8"/>
                </a:solidFill>
              </a:rPr>
              <a:t>Basic CPU serving, variant-specific hardware support, or maintenance mode were treated as real constraints, not marketing footnotes.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9070848" y="3803904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9A8CFF"/>
          </a:solidFill>
          <a:ln w="12700">
            <a:solidFill>
              <a:srgbClr val="9A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3813048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76688" y="376732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No vendor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F2F6FA"/>
                </a:solidFill>
              </a:rPr>
              <a:t>benchmark ranking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9089136" y="4389120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DC5D8"/>
                </a:solidFill>
              </a:rPr>
              <a:t>Vendor benchmark claims were not used to rank the shortlist. Fit, operability, and ecosystem momentum were prioritized.</a:t>
            </a:r>
            <a:endParaRPr lang="en-US" sz="11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Executive map: where each option is strongest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Y-axis = serving feature depth + performance. X-axis = portability across hardware and environments.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6720840" cy="4956048"/>
          </a:xfrm>
          <a:prstGeom prst="roundRect">
            <a:avLst>
              <a:gd name="adj" fmla="val 1107"/>
            </a:avLst>
          </a:prstGeom>
          <a:solidFill>
            <a:srgbClr val="0B1B2A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5559552"/>
            <a:ext cx="0" cy="-4078224"/>
          </a:xfrm>
          <a:prstGeom prst="line">
            <a:avLst/>
          </a:prstGeom>
          <a:noFill/>
          <a:ln w="12700">
            <a:solidFill>
              <a:srgbClr val="5A7B9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15568" y="5559552"/>
            <a:ext cx="5440680" cy="0"/>
          </a:xfrm>
          <a:prstGeom prst="line">
            <a:avLst/>
          </a:prstGeom>
          <a:noFill/>
          <a:ln w="12700">
            <a:solidFill>
              <a:srgbClr val="5A7B97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 rot="16200000">
            <a:off x="521208" y="3438144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Serving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depth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5577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Portability / hardware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breadth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402336" cy="402336"/>
          </a:xfrm>
          <a:prstGeom prst="ellipse">
            <a:avLst/>
          </a:prstGeom>
          <a:solidFill>
            <a:srgbClr val="F8B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18105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</a:rPr>
              <a:t>TensorRT-LLM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16352" y="2039112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DC5D8"/>
                </a:solidFill>
              </a:rPr>
              <a:t>NVIDIA-only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886200" y="2103120"/>
            <a:ext cx="402336" cy="402336"/>
          </a:xfrm>
          <a:prstGeom prst="ellipse">
            <a:avLst/>
          </a:prstGeom>
          <a:solidFill>
            <a:srgbClr val="41C4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20848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</a:rPr>
              <a:t>vLLM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25112" y="2313432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DC5D8"/>
                </a:solidFill>
              </a:rPr>
              <a:t>best general default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773168" y="1874520"/>
            <a:ext cx="402336" cy="402336"/>
          </a:xfrm>
          <a:prstGeom prst="ellipse">
            <a:avLst/>
          </a:prstGeom>
          <a:solidFill>
            <a:srgbClr val="38C9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8562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</a:rPr>
              <a:t>SGLang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2084832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DC5D8"/>
                </a:solidFill>
              </a:rPr>
              <a:t>fast challenger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246120" y="2944368"/>
            <a:ext cx="402336" cy="402336"/>
          </a:xfrm>
          <a:prstGeom prst="ellipse">
            <a:avLst/>
          </a:prstGeom>
          <a:solidFill>
            <a:srgbClr val="9A8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29260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</a:rPr>
              <a:t>LMDeploy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85032" y="3154680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DC5D8"/>
                </a:solidFill>
              </a:rPr>
              <a:t>CUDA-focused alt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157216" y="3456432"/>
            <a:ext cx="402336" cy="402336"/>
          </a:xfrm>
          <a:prstGeom prst="ellipse">
            <a:avLst/>
          </a:prstGeom>
          <a:solidFill>
            <a:srgbClr val="5DD6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343814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</a:rPr>
              <a:t>llama.cpp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96128" y="3666744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DC5D8"/>
                </a:solidFill>
              </a:rPr>
              <a:t>CPU/edge portability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657600" y="4160520"/>
            <a:ext cx="402336" cy="402336"/>
          </a:xfrm>
          <a:prstGeom prst="ellipse">
            <a:avLst/>
          </a:prstGeom>
          <a:solidFill>
            <a:srgbClr val="F1D2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41422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</a:rPr>
              <a:t>TGI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96512" y="4370832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DC5D8"/>
                </a:solidFill>
              </a:rPr>
              <a:t>maintenance mode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726680" y="1389888"/>
            <a:ext cx="3657600" cy="1353312"/>
          </a:xfrm>
          <a:prstGeom prst="roundRect">
            <a:avLst>
              <a:gd name="adj" fmla="val 4054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72984" y="1508760"/>
            <a:ext cx="336499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Default answer for most clusters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72984" y="1773936"/>
            <a:ext cx="3364992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Standardize on vLLM if you want the safest mainstream choice. Standardize on SGLang if you need broader advanced serving knobs and are comfortable with a faster-moving stack.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726680" y="2926080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72984" y="3044952"/>
            <a:ext cx="336499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When to go off the default path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872984" y="3310128"/>
            <a:ext cx="3364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TensorRT-LLM when NVIDIA lock-in is acceptable and max throughput matters more than portability. llama.cpp when CPU, edge, or GGUF portability dominates.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7726680" y="4270248"/>
            <a:ext cx="3657600" cy="1170432"/>
          </a:xfrm>
          <a:prstGeom prst="roundRect">
            <a:avLst>
              <a:gd name="adj" fmla="val 4688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72984" y="4389120"/>
            <a:ext cx="336499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Do not confuse these with kernels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872984" y="4654296"/>
            <a:ext cx="3364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Ray Serve LLM and Triton are control planes / serving platforms, not direct replacements for a kernel like vLLM or SGLang.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Core feature matrix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Legend: ● = strong / native, ◐ = partial or narrower, — = absent or not a core strength.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11045952" cy="5102352"/>
          </a:xfrm>
          <a:prstGeom prst="roundRect">
            <a:avLst>
              <a:gd name="adj" fmla="val 896"/>
            </a:avLst>
          </a:prstGeom>
          <a:solidFill>
            <a:srgbClr val="0B1B2A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43584"/>
            <a:ext cx="2148840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37160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2F6FA"/>
                </a:solidFill>
              </a:rPr>
              <a:t>Engine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2715768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OpenAI API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3986784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Streaming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257800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Continuous / in-flight batching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528816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Prefix or shared KV reuse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7799832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Structured outputs / tools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9070848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7424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Distributed parallelism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10341864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LoRA serving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566928" y="1755648"/>
            <a:ext cx="2148840" cy="731520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182880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vLLM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676656" y="2020824"/>
            <a:ext cx="192938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Mainstream default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2715768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986784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57800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28816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799832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070848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0848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341864" y="17556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41864" y="18288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66928" y="2487168"/>
            <a:ext cx="2148840" cy="731520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256032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SGLang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676656" y="2752344"/>
            <a:ext cx="192938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Feature-rich challenger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2715768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15768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986784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86784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57800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528816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28816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799832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9832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070848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70848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0341864" y="248716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41864" y="256032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66928" y="3218688"/>
            <a:ext cx="2148840" cy="731520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" y="329184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TensorRT-LLM</a:t>
            </a:r>
            <a:endParaRPr lang="en-US" sz="1270" dirty="0"/>
          </a:p>
        </p:txBody>
      </p:sp>
      <p:sp>
        <p:nvSpPr>
          <p:cNvPr id="59" name="Text 57"/>
          <p:cNvSpPr/>
          <p:nvPr/>
        </p:nvSpPr>
        <p:spPr>
          <a:xfrm>
            <a:off x="676656" y="3483864"/>
            <a:ext cx="192938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NVIDIA specialist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2715768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15768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3986784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86784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5257800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57800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528816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28816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7799832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99832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9070848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70848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0341864" y="321868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41864" y="329184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566928" y="3950208"/>
            <a:ext cx="2148840" cy="731520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" y="402336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LMDeploy</a:t>
            </a:r>
            <a:endParaRPr lang="en-US" sz="1270" dirty="0"/>
          </a:p>
        </p:txBody>
      </p:sp>
      <p:sp>
        <p:nvSpPr>
          <p:cNvPr id="76" name="Text 74"/>
          <p:cNvSpPr/>
          <p:nvPr/>
        </p:nvSpPr>
        <p:spPr>
          <a:xfrm>
            <a:off x="676656" y="4215384"/>
            <a:ext cx="192938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CUDA-focused alt</a:t>
            </a:r>
            <a:endParaRPr lang="en-US" sz="970" dirty="0"/>
          </a:p>
        </p:txBody>
      </p:sp>
      <p:sp>
        <p:nvSpPr>
          <p:cNvPr id="77" name="Shape 75"/>
          <p:cNvSpPr/>
          <p:nvPr/>
        </p:nvSpPr>
        <p:spPr>
          <a:xfrm>
            <a:off x="2715768" y="395020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15768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3986784" y="395020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86784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5257800" y="395020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57800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6528816" y="395020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28816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7799832" y="395020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99832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9070848" y="3950208"/>
            <a:ext cx="1271016" cy="731520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70848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10341864" y="3950208"/>
            <a:ext cx="1271016" cy="731520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41864" y="402336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566928" y="4681728"/>
            <a:ext cx="2148840" cy="731520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6656" y="475488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llama.cpp</a:t>
            </a:r>
            <a:endParaRPr lang="en-US" sz="1270" dirty="0"/>
          </a:p>
        </p:txBody>
      </p:sp>
      <p:sp>
        <p:nvSpPr>
          <p:cNvPr id="93" name="Text 91"/>
          <p:cNvSpPr/>
          <p:nvPr/>
        </p:nvSpPr>
        <p:spPr>
          <a:xfrm>
            <a:off x="676656" y="4946904"/>
            <a:ext cx="192938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Portable / local-first</a:t>
            </a:r>
            <a:endParaRPr lang="en-US" sz="970" dirty="0"/>
          </a:p>
        </p:txBody>
      </p:sp>
      <p:sp>
        <p:nvSpPr>
          <p:cNvPr id="94" name="Shape 92"/>
          <p:cNvSpPr/>
          <p:nvPr/>
        </p:nvSpPr>
        <p:spPr>
          <a:xfrm>
            <a:off x="2715768" y="468172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15768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3986784" y="468172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986784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5257800" y="468172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57800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6528816" y="4681728"/>
            <a:ext cx="1271016" cy="731520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28816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7799832" y="468172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799832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9070848" y="4681728"/>
            <a:ext cx="1271016" cy="731520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070848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10341864" y="4681728"/>
            <a:ext cx="1271016" cy="731520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341864" y="475488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566928" y="5413248"/>
            <a:ext cx="2148840" cy="731520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6656" y="548640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TGI</a:t>
            </a:r>
            <a:endParaRPr lang="en-US" sz="1270" dirty="0"/>
          </a:p>
        </p:txBody>
      </p:sp>
      <p:sp>
        <p:nvSpPr>
          <p:cNvPr id="110" name="Text 108"/>
          <p:cNvSpPr/>
          <p:nvPr/>
        </p:nvSpPr>
        <p:spPr>
          <a:xfrm>
            <a:off x="676656" y="5678424"/>
            <a:ext cx="192938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Maintenance mode</a:t>
            </a:r>
            <a:endParaRPr lang="en-US" sz="970" dirty="0"/>
          </a:p>
        </p:txBody>
      </p:sp>
      <p:sp>
        <p:nvSpPr>
          <p:cNvPr id="111" name="Shape 109"/>
          <p:cNvSpPr/>
          <p:nvPr/>
        </p:nvSpPr>
        <p:spPr>
          <a:xfrm>
            <a:off x="2715768" y="54132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715768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3986784" y="54132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86784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5" name="Shape 113"/>
          <p:cNvSpPr/>
          <p:nvPr/>
        </p:nvSpPr>
        <p:spPr>
          <a:xfrm>
            <a:off x="5257800" y="54132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257800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6528816" y="54132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28816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7799832" y="54132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799832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21" name="Shape 119"/>
          <p:cNvSpPr/>
          <p:nvPr/>
        </p:nvSpPr>
        <p:spPr>
          <a:xfrm>
            <a:off x="9070848" y="5413248"/>
            <a:ext cx="1271016" cy="731520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070848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123" name="Shape 121"/>
          <p:cNvSpPr/>
          <p:nvPr/>
        </p:nvSpPr>
        <p:spPr>
          <a:xfrm>
            <a:off x="10341864" y="5413248"/>
            <a:ext cx="1271016" cy="731520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341864" y="5486400"/>
            <a:ext cx="1271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25" name="Text 123"/>
          <p:cNvSpPr/>
          <p:nvPr/>
        </p:nvSpPr>
        <p:spPr>
          <a:xfrm>
            <a:off x="603504" y="6163056"/>
            <a:ext cx="10972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30" i="1" dirty="0">
                <a:solidFill>
                  <a:srgbClr val="ADC5D8"/>
                </a:solidFill>
              </a:rPr>
              <a:t>Interpretation matters: a green dot does not mean the feature is equal in maturity across engines.</a:t>
            </a:r>
            <a:endParaRPr lang="en-US" sz="1030" dirty="0"/>
          </a:p>
        </p:txBody>
      </p:sp>
      <p:sp>
        <p:nvSpPr>
          <p:cNvPr id="126" name="Shape 124"/>
          <p:cNvSpPr/>
          <p:nvPr/>
        </p:nvSpPr>
        <p:spPr>
          <a:xfrm>
            <a:off x="694944" y="6400800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173625"/>
          </a:solidFill>
          <a:ln w="12700">
            <a:solidFill>
              <a:srgbClr val="17362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94944" y="64099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DD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250" dirty="0"/>
          </a:p>
        </p:txBody>
      </p:sp>
      <p:sp>
        <p:nvSpPr>
          <p:cNvPr id="128" name="Text 126"/>
          <p:cNvSpPr/>
          <p:nvPr/>
        </p:nvSpPr>
        <p:spPr>
          <a:xfrm>
            <a:off x="1207008" y="640080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DC5D8"/>
                </a:solidFill>
              </a:rPr>
              <a:t>strong / native</a:t>
            </a:r>
            <a:endParaRPr lang="en-US" sz="1060" dirty="0"/>
          </a:p>
        </p:txBody>
      </p:sp>
      <p:sp>
        <p:nvSpPr>
          <p:cNvPr id="129" name="Shape 127"/>
          <p:cNvSpPr/>
          <p:nvPr/>
        </p:nvSpPr>
        <p:spPr>
          <a:xfrm>
            <a:off x="2304288" y="6400800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574611"/>
          </a:solidFill>
          <a:ln w="12700">
            <a:solidFill>
              <a:srgbClr val="57461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304288" y="64099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D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◐</a:t>
            </a:r>
            <a:endParaRPr lang="en-US" sz="1250" dirty="0"/>
          </a:p>
        </p:txBody>
      </p:sp>
      <p:sp>
        <p:nvSpPr>
          <p:cNvPr id="131" name="Text 129"/>
          <p:cNvSpPr/>
          <p:nvPr/>
        </p:nvSpPr>
        <p:spPr>
          <a:xfrm>
            <a:off x="2816352" y="6400800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DC5D8"/>
                </a:solidFill>
              </a:rPr>
              <a:t>partial / narrower</a:t>
            </a:r>
            <a:endParaRPr lang="en-US" sz="1060" dirty="0"/>
          </a:p>
        </p:txBody>
      </p:sp>
      <p:sp>
        <p:nvSpPr>
          <p:cNvPr id="132" name="Shape 130"/>
          <p:cNvSpPr/>
          <p:nvPr/>
        </p:nvSpPr>
        <p:spPr>
          <a:xfrm>
            <a:off x="4389120" y="6400800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4B1E23"/>
          </a:solidFill>
          <a:ln w="12700">
            <a:solidFill>
              <a:srgbClr val="4B1E2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389120" y="64099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250" dirty="0"/>
          </a:p>
        </p:txBody>
      </p:sp>
      <p:sp>
        <p:nvSpPr>
          <p:cNvPr id="134" name="Text 132"/>
          <p:cNvSpPr/>
          <p:nvPr/>
        </p:nvSpPr>
        <p:spPr>
          <a:xfrm>
            <a:off x="4892040" y="6400800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DC5D8"/>
                </a:solidFill>
              </a:rPr>
              <a:t>not a core strength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Hardware and portability matrix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This slide rewards documented support breadth, not “it might compile if you fight it.”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11045952" cy="5120640"/>
          </a:xfrm>
          <a:prstGeom prst="roundRect">
            <a:avLst>
              <a:gd name="adj" fmla="val 893"/>
            </a:avLst>
          </a:prstGeom>
          <a:solidFill>
            <a:srgbClr val="0B1B2A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43584"/>
            <a:ext cx="2148840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37160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2F6FA"/>
                </a:solidFill>
              </a:rPr>
              <a:t>Engine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2715768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x86_64 CPU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3986784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ARM64 CPU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257800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NVIDIA GPU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528816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AMD GPU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7799832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Intel GPU / XPU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9070848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7424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TPU / other accel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10341864" y="1243584"/>
            <a:ext cx="127101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1316736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Portability verdict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566928" y="1755648"/>
            <a:ext cx="2148840" cy="73456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182880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vLLM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676656" y="2020824"/>
            <a:ext cx="1929384" cy="423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CPU path exists, but docs call it basic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2715768" y="175564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986784" y="175564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57800" y="175564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28816" y="175564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799832" y="175564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070848" y="1755648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0848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341864" y="1755648"/>
            <a:ext cx="1271016" cy="734568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41864" y="182880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66928" y="2490216"/>
            <a:ext cx="2148840" cy="73456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2563368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SGLang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676656" y="2755392"/>
            <a:ext cx="1929384" cy="423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CPU docs center on Intel Xeon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2715768" y="2490216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15768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986784" y="2490216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86784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57800" y="2490216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528816" y="2490216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28816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799832" y="2490216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9832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070848" y="2490216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70848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0341864" y="2490216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41864" y="2563368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66928" y="3224784"/>
            <a:ext cx="2148840" cy="73456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" y="3297936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TensorRT-LLM</a:t>
            </a:r>
            <a:endParaRPr lang="en-US" sz="1270" dirty="0"/>
          </a:p>
        </p:txBody>
      </p:sp>
      <p:sp>
        <p:nvSpPr>
          <p:cNvPr id="59" name="Text 57"/>
          <p:cNvSpPr/>
          <p:nvPr/>
        </p:nvSpPr>
        <p:spPr>
          <a:xfrm>
            <a:off x="676656" y="3489960"/>
            <a:ext cx="1929384" cy="423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NVIDIA GPU only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2715768" y="3224784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15768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3986784" y="3224784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86784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5257800" y="3224784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57800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528816" y="3224784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28816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7799832" y="3224784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99832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9070848" y="3224784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70848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0341864" y="3224784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41864" y="3297936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566928" y="3959352"/>
            <a:ext cx="2148840" cy="73456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" y="4032504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LMDeploy</a:t>
            </a:r>
            <a:endParaRPr lang="en-US" sz="1270" dirty="0"/>
          </a:p>
        </p:txBody>
      </p:sp>
      <p:sp>
        <p:nvSpPr>
          <p:cNvPr id="76" name="Text 74"/>
          <p:cNvSpPr/>
          <p:nvPr/>
        </p:nvSpPr>
        <p:spPr>
          <a:xfrm>
            <a:off x="676656" y="4224528"/>
            <a:ext cx="1929384" cy="423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Primarily CUDA; some Ascend docs</a:t>
            </a:r>
            <a:endParaRPr lang="en-US" sz="970" dirty="0"/>
          </a:p>
        </p:txBody>
      </p:sp>
      <p:sp>
        <p:nvSpPr>
          <p:cNvPr id="77" name="Shape 75"/>
          <p:cNvSpPr/>
          <p:nvPr/>
        </p:nvSpPr>
        <p:spPr>
          <a:xfrm>
            <a:off x="2715768" y="3959352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15768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3986784" y="3959352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86784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5257800" y="3959352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57800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6528816" y="3959352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28816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7799832" y="3959352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99832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9070848" y="3959352"/>
            <a:ext cx="1271016" cy="734568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70848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10341864" y="3959352"/>
            <a:ext cx="1271016" cy="734568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41864" y="4032504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566928" y="4693920"/>
            <a:ext cx="2148840" cy="73456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6656" y="4767072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llama.cpp</a:t>
            </a:r>
            <a:endParaRPr lang="en-US" sz="1270" dirty="0"/>
          </a:p>
        </p:txBody>
      </p:sp>
      <p:sp>
        <p:nvSpPr>
          <p:cNvPr id="93" name="Text 91"/>
          <p:cNvSpPr/>
          <p:nvPr/>
        </p:nvSpPr>
        <p:spPr>
          <a:xfrm>
            <a:off x="676656" y="4959096"/>
            <a:ext cx="1929384" cy="423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Best portability story</a:t>
            </a:r>
            <a:endParaRPr lang="en-US" sz="970" dirty="0"/>
          </a:p>
        </p:txBody>
      </p:sp>
      <p:sp>
        <p:nvSpPr>
          <p:cNvPr id="94" name="Shape 92"/>
          <p:cNvSpPr/>
          <p:nvPr/>
        </p:nvSpPr>
        <p:spPr>
          <a:xfrm>
            <a:off x="2715768" y="4693920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15768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3986784" y="4693920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986784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5257800" y="4693920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57800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6528816" y="4693920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28816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7799832" y="4693920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799832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9070848" y="4693920"/>
            <a:ext cx="1271016" cy="734568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070848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10341864" y="4693920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341864" y="4767072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566928" y="5428488"/>
            <a:ext cx="2148840" cy="73456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6656" y="550164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TGI</a:t>
            </a:r>
            <a:endParaRPr lang="en-US" sz="1270" dirty="0"/>
          </a:p>
        </p:txBody>
      </p:sp>
      <p:sp>
        <p:nvSpPr>
          <p:cNvPr id="110" name="Text 108"/>
          <p:cNvSpPr/>
          <p:nvPr/>
        </p:nvSpPr>
        <p:spPr>
          <a:xfrm>
            <a:off x="676656" y="5693664"/>
            <a:ext cx="1929384" cy="423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Broad variants, maturity differs by backend</a:t>
            </a:r>
            <a:endParaRPr lang="en-US" sz="970" dirty="0"/>
          </a:p>
        </p:txBody>
      </p:sp>
      <p:sp>
        <p:nvSpPr>
          <p:cNvPr id="111" name="Shape 109"/>
          <p:cNvSpPr/>
          <p:nvPr/>
        </p:nvSpPr>
        <p:spPr>
          <a:xfrm>
            <a:off x="2715768" y="542848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715768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3986784" y="5428488"/>
            <a:ext cx="1271016" cy="734568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86784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115" name="Shape 113"/>
          <p:cNvSpPr/>
          <p:nvPr/>
        </p:nvSpPr>
        <p:spPr>
          <a:xfrm>
            <a:off x="5257800" y="542848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257800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6528816" y="542848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28816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7799832" y="5428488"/>
            <a:ext cx="1271016" cy="734568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799832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121" name="Shape 119"/>
          <p:cNvSpPr/>
          <p:nvPr/>
        </p:nvSpPr>
        <p:spPr>
          <a:xfrm>
            <a:off x="9070848" y="5428488"/>
            <a:ext cx="1271016" cy="734568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070848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123" name="Shape 121"/>
          <p:cNvSpPr/>
          <p:nvPr/>
        </p:nvSpPr>
        <p:spPr>
          <a:xfrm>
            <a:off x="10341864" y="5428488"/>
            <a:ext cx="1271016" cy="734568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341864" y="5501640"/>
            <a:ext cx="1271016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125" name="Text 123"/>
          <p:cNvSpPr/>
          <p:nvPr/>
        </p:nvSpPr>
        <p:spPr>
          <a:xfrm>
            <a:off x="603504" y="6181344"/>
            <a:ext cx="10972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30" i="1" dirty="0">
                <a:solidFill>
                  <a:srgbClr val="ADC5D8"/>
                </a:solidFill>
              </a:rPr>
              <a:t>For vLLM CPU, the docs explicitly frame x86 / Arm CPU as basic inferencing and serving rather than the main optimized path.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Kernels vs control planes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When autoscaling, routing, fleet operations, and HA matter, wrappers and control planes change the recommendation.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5074920" cy="4480560"/>
          </a:xfrm>
          <a:prstGeom prst="roundRect">
            <a:avLst>
              <a:gd name="adj" fmla="val 1224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62456"/>
            <a:ext cx="478231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Kernel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4782312" cy="3986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vLLM, SGLang, TensorRT-LLM, LMDeploy, llama.cpp, and TGI are the engines that own token scheduling, cache behavior, decoding, and model-specific performance.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A faster control plane cannot make a weak kernel equal to a stronger kernel.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96112" y="1627632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41C4F2"/>
          </a:solidFill>
          <a:ln w="12700">
            <a:solidFill>
              <a:srgbClr val="41C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3677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4315968"/>
            <a:ext cx="44805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8B14F"/>
                </a:solidFill>
              </a:rPr>
              <a:t>● </a:t>
            </a:r>
            <a:pPr indent="0" marL="0">
              <a:buNone/>
            </a:pPr>
            <a:r>
              <a:rPr lang="en-US" sz="1430" dirty="0">
                <a:solidFill>
                  <a:srgbClr val="F2F6FA"/>
                </a:solidFill>
              </a:rPr>
              <a:t>These engines decide actual throughput, cache reuse, and model behavior.
</a:t>
            </a:r>
            <a:pPr indent="0" marL="0">
              <a:buNone/>
            </a:pPr>
            <a:r>
              <a:rPr lang="en-US" sz="1430" b="1" dirty="0">
                <a:solidFill>
                  <a:srgbClr val="F8B14F"/>
                </a:solidFill>
              </a:rPr>
              <a:t>● </a:t>
            </a:r>
            <a:pPr indent="0" marL="0">
              <a:buNone/>
            </a:pPr>
            <a:r>
              <a:rPr lang="en-US" sz="1430" dirty="0">
                <a:solidFill>
                  <a:srgbClr val="F2F6FA"/>
                </a:solidFill>
              </a:rPr>
              <a:t>This is why Ray Serve and Triton are complements, not direct substitutes.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897880" y="1243584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44184" y="1362456"/>
            <a:ext cx="2404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Ray Serve LLM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44184" y="1627632"/>
            <a:ext cx="2404872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Best when you need autoscaling, routing, fault tolerance, and a cluster-wide serving control plane over engines like vLLM or SGLang.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08192" y="272491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331C1C"/>
          </a:solidFill>
          <a:ln w="12700">
            <a:solidFill>
              <a:srgbClr val="33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73405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kernel replacement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1243584"/>
            <a:ext cx="2761488" cy="1783080"/>
          </a:xfrm>
          <a:prstGeom prst="roundRect">
            <a:avLst>
              <a:gd name="adj" fmla="val 3077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0264" y="1362456"/>
            <a:ext cx="2468880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Triton Inference Server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70264" y="1627632"/>
            <a:ext cx="2468880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Best when you need one serving platform for mixed model types, strict platform ops, and NVIDIA ecosystem alignment — often paired with TensorRT-LLM.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070848" y="272491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331C1C"/>
          </a:solidFill>
          <a:ln w="12700">
            <a:solidFill>
              <a:srgbClr val="33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273405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Platform, not kernel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3154680"/>
            <a:ext cx="5687568" cy="2578608"/>
          </a:xfrm>
          <a:prstGeom prst="roundRect">
            <a:avLst>
              <a:gd name="adj" fmla="val 1773"/>
            </a:avLst>
          </a:prstGeom>
          <a:solidFill>
            <a:srgbClr val="0B1B2A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154680"/>
            <a:ext cx="2148840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3282696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2F6FA"/>
                </a:solidFill>
              </a:rPr>
              <a:t>Layer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046720" y="3154680"/>
            <a:ext cx="70774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3227832"/>
            <a:ext cx="63459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Autoscaling / routing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8754466" y="3154680"/>
            <a:ext cx="70774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91042" y="3227832"/>
            <a:ext cx="63459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Observability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9462211" y="3154680"/>
            <a:ext cx="70774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98787" y="3227832"/>
            <a:ext cx="63459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Multi-model / mixed fleet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10169957" y="3154680"/>
            <a:ext cx="70774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06533" y="3227832"/>
            <a:ext cx="63459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OpenAI API layer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10877702" y="3154680"/>
            <a:ext cx="707746" cy="512064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14278" y="3227832"/>
            <a:ext cx="63459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2F6FA"/>
                </a:solidFill>
              </a:rPr>
              <a:t>Best used as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5897880" y="3666744"/>
            <a:ext cx="2148840" cy="621792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07608" y="3739896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Ray Serve LLM</a:t>
            </a:r>
            <a:endParaRPr lang="en-US" sz="1270" dirty="0"/>
          </a:p>
        </p:txBody>
      </p:sp>
      <p:sp>
        <p:nvSpPr>
          <p:cNvPr id="37" name="Text 35"/>
          <p:cNvSpPr/>
          <p:nvPr/>
        </p:nvSpPr>
        <p:spPr>
          <a:xfrm>
            <a:off x="6007608" y="3931920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Engine-agnostic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8046720" y="3666744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3739896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754466" y="3666744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54466" y="3739896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462211" y="3666744"/>
            <a:ext cx="707746" cy="621792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62211" y="3739896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169957" y="3666744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69957" y="3739896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877702" y="3666744"/>
            <a:ext cx="707746" cy="621792"/>
          </a:xfrm>
          <a:prstGeom prst="rect">
            <a:avLst/>
          </a:prstGeom>
          <a:solidFill>
            <a:srgbClr val="152C4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77702" y="3739896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C4F2"/>
                </a:solidFill>
              </a:rPr>
              <a:t>P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897880" y="4288536"/>
            <a:ext cx="2148840" cy="621792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07608" y="4361688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Triton Inference Server</a:t>
            </a:r>
            <a:endParaRPr lang="en-US" sz="1270" dirty="0"/>
          </a:p>
        </p:txBody>
      </p:sp>
      <p:sp>
        <p:nvSpPr>
          <p:cNvPr id="50" name="Text 48"/>
          <p:cNvSpPr/>
          <p:nvPr/>
        </p:nvSpPr>
        <p:spPr>
          <a:xfrm>
            <a:off x="6007608" y="4553712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Model server / platform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8046720" y="4288536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4361688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754466" y="4288536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54466" y="4361688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462211" y="4288536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62211" y="4361688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169957" y="4288536"/>
            <a:ext cx="707746" cy="621792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69957" y="4361688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877702" y="4288536"/>
            <a:ext cx="707746" cy="621792"/>
          </a:xfrm>
          <a:prstGeom prst="rect">
            <a:avLst/>
          </a:prstGeom>
          <a:solidFill>
            <a:srgbClr val="152C4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77702" y="4361688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C4F2"/>
                </a:solidFill>
              </a:rPr>
              <a:t>P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897880" y="4910328"/>
            <a:ext cx="2148840" cy="621792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07608" y="498348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2F6FA"/>
                </a:solidFill>
              </a:rPr>
              <a:t>Kernel only</a:t>
            </a:r>
            <a:endParaRPr lang="en-US" sz="1270" dirty="0"/>
          </a:p>
        </p:txBody>
      </p:sp>
      <p:sp>
        <p:nvSpPr>
          <p:cNvPr id="63" name="Text 61"/>
          <p:cNvSpPr/>
          <p:nvPr/>
        </p:nvSpPr>
        <p:spPr>
          <a:xfrm>
            <a:off x="6007608" y="5175504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DC5D8"/>
                </a:solidFill>
              </a:rPr>
              <a:t>vLLM / SGLang / etc.</a:t>
            </a:r>
            <a:endParaRPr lang="en-US" sz="970" dirty="0"/>
          </a:p>
        </p:txBody>
      </p:sp>
      <p:sp>
        <p:nvSpPr>
          <p:cNvPr id="64" name="Shape 62"/>
          <p:cNvSpPr/>
          <p:nvPr/>
        </p:nvSpPr>
        <p:spPr>
          <a:xfrm>
            <a:off x="8046720" y="4910328"/>
            <a:ext cx="707746" cy="621792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0" y="4983480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8754466" y="4910328"/>
            <a:ext cx="707746" cy="621792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54466" y="4983480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9462211" y="4910328"/>
            <a:ext cx="707746" cy="621792"/>
          </a:xfrm>
          <a:prstGeom prst="rect">
            <a:avLst/>
          </a:prstGeom>
          <a:solidFill>
            <a:srgbClr val="574611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62211" y="4983480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255"/>
                </a:solidFill>
              </a:rPr>
              <a:t>◐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0169957" y="4910328"/>
            <a:ext cx="707746" cy="621792"/>
          </a:xfrm>
          <a:prstGeom prst="rect">
            <a:avLst/>
          </a:prstGeom>
          <a:solidFill>
            <a:srgbClr val="173625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69957" y="4983480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66B"/>
                </a:solidFill>
              </a:rPr>
              <a:t>●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0877702" y="4910328"/>
            <a:ext cx="707746" cy="621792"/>
          </a:xfrm>
          <a:prstGeom prst="rect">
            <a:avLst/>
          </a:prstGeom>
          <a:solidFill>
            <a:srgbClr val="4B1E23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877702" y="4983480"/>
            <a:ext cx="7077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82"/>
                </a:solidFill>
              </a:rPr>
              <a:t>—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5934456" y="5550408"/>
            <a:ext cx="56144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30" i="1" dirty="0">
                <a:solidFill>
                  <a:srgbClr val="ADC5D8"/>
                </a:solidFill>
              </a:rPr>
              <a:t>P = platform-layer strength rather than a direct feature-equivalent cell.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Decision guide by scenario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Use this slide when someone asks “which one should we pick?”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11045952" cy="5340096"/>
          </a:xfrm>
          <a:prstGeom prst="roundRect">
            <a:avLst>
              <a:gd name="adj" fmla="val 856"/>
            </a:avLst>
          </a:prstGeom>
          <a:solidFill>
            <a:srgbClr val="0B1B2A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43584"/>
            <a:ext cx="3154680" cy="493776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2F6FA"/>
                </a:solidFill>
              </a:rPr>
              <a:t>Scenario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721608" y="1243584"/>
            <a:ext cx="2286000" cy="493776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371600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2F6FA"/>
                </a:solidFill>
              </a:rPr>
              <a:t>Recommended primary choice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007608" y="1243584"/>
            <a:ext cx="5440680" cy="493776"/>
          </a:xfrm>
          <a:prstGeom prst="rect">
            <a:avLst/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371600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2F6FA"/>
                </a:solidFill>
              </a:rPr>
              <a:t>Why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66928" y="1737360"/>
            <a:ext cx="315468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19656"/>
            <a:ext cx="3008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General-purpose GPU cluster, broad OSS compatibility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3721608" y="1737360"/>
            <a:ext cx="228600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819656"/>
            <a:ext cx="213969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</a:rPr>
              <a:t>vLLM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07608" y="1737360"/>
            <a:ext cx="544068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819656"/>
            <a:ext cx="5294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Safest mainstream default with broad ecosystem gravity, strong feature depth, and many reference deployment patterns.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66928" y="2578608"/>
            <a:ext cx="315468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60904"/>
            <a:ext cx="3008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Need more advanced serving knobs / routing / cache options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3721608" y="2578608"/>
            <a:ext cx="228600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660904"/>
            <a:ext cx="213969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</a:rPr>
              <a:t>SGLang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07608" y="2578608"/>
            <a:ext cx="544068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660904"/>
            <a:ext cx="5294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Best challenger when you want aggressive feature velocity and broader serving controls than the conservative default path.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566928" y="3419856"/>
            <a:ext cx="315468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02152"/>
            <a:ext cx="3008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NVIDIA-only fleet, max throughput is the KPI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3721608" y="3419856"/>
            <a:ext cx="228600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502152"/>
            <a:ext cx="213969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</a:rPr>
              <a:t>TensorRT-LLM (+ Triton optional)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07608" y="3419856"/>
            <a:ext cx="544068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502152"/>
            <a:ext cx="5294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Best if you accept lock-in and want the most NVIDIA-native path for high-end production inference.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566928" y="4261104"/>
            <a:ext cx="315468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43400"/>
            <a:ext cx="3008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CPU-heavy, ARM64, edge, or local GGUF estate</a:t>
            </a:r>
            <a:endParaRPr lang="en-US" sz="1170" dirty="0"/>
          </a:p>
        </p:txBody>
      </p:sp>
      <p:sp>
        <p:nvSpPr>
          <p:cNvPr id="33" name="Shape 31"/>
          <p:cNvSpPr/>
          <p:nvPr/>
        </p:nvSpPr>
        <p:spPr>
          <a:xfrm>
            <a:off x="3721608" y="4261104"/>
            <a:ext cx="228600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4343400"/>
            <a:ext cx="213969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</a:rPr>
              <a:t>llama.cpp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07608" y="4261104"/>
            <a:ext cx="544068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343400"/>
            <a:ext cx="5294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Best portability story by far; easiest answer when GPU-centric datacenter assumptions are wrong for your environment.</a:t>
            </a:r>
            <a:endParaRPr lang="en-US" sz="1170" dirty="0"/>
          </a:p>
        </p:txBody>
      </p:sp>
      <p:sp>
        <p:nvSpPr>
          <p:cNvPr id="37" name="Shape 35"/>
          <p:cNvSpPr/>
          <p:nvPr/>
        </p:nvSpPr>
        <p:spPr>
          <a:xfrm>
            <a:off x="566928" y="5102352"/>
            <a:ext cx="315468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184648"/>
            <a:ext cx="3008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Cluster-wide autoscaling / routing / HA over multiple engines</a:t>
            </a:r>
            <a:endParaRPr lang="en-US" sz="1170" dirty="0"/>
          </a:p>
        </p:txBody>
      </p:sp>
      <p:sp>
        <p:nvSpPr>
          <p:cNvPr id="39" name="Shape 37"/>
          <p:cNvSpPr/>
          <p:nvPr/>
        </p:nvSpPr>
        <p:spPr>
          <a:xfrm>
            <a:off x="3721608" y="5102352"/>
            <a:ext cx="228600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5184648"/>
            <a:ext cx="213969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</a:rPr>
              <a:t>Ray Serve LLM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07608" y="5102352"/>
            <a:ext cx="5440680" cy="841248"/>
          </a:xfrm>
          <a:prstGeom prst="rect">
            <a:avLst/>
          </a:prstGeom>
          <a:solidFill>
            <a:srgbClr val="0F2336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5184648"/>
            <a:ext cx="5294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Add it as the serving control plane over vLLM or SGLang instead of trying to replace the engine with the platform.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566928" y="5943600"/>
            <a:ext cx="315468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025896"/>
            <a:ext cx="3008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Already running TGI successfully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3721608" y="5943600"/>
            <a:ext cx="228600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6025896"/>
            <a:ext cx="213969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</a:rPr>
              <a:t>Keep, but re-evaluate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07608" y="5943600"/>
            <a:ext cx="5440680" cy="841248"/>
          </a:xfrm>
          <a:prstGeom prst="rect">
            <a:avLst/>
          </a:prstGeom>
          <a:solidFill>
            <a:srgbClr val="11293E"/>
          </a:solidFill>
          <a:ln w="12700">
            <a:solidFill>
              <a:srgbClr val="29455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6025896"/>
            <a:ext cx="529437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DC5D8"/>
                </a:solidFill>
              </a:rPr>
              <a:t>TGI still works, but maintenance mode makes it a weak greenfield standard for the next platform refresh.</a:t>
            </a:r>
            <a:endParaRPr lang="en-US" sz="11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0273B"/>
          </a:solidFill>
          <a:ln w="12700">
            <a:solidFill>
              <a:srgbClr val="1027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94183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247" b="1" dirty="0">
                <a:solidFill>
                  <a:srgbClr val="F2F6FA"/>
                </a:solidFill>
              </a:rPr>
              <a:t>Bottom line</a:t>
            </a:r>
            <a:endParaRPr lang="en-US" sz="2247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84124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DC5D8"/>
                </a:solidFill>
              </a:rPr>
              <a:t>The clean recommendation after due diligence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3657600" cy="4480560"/>
          </a:xfrm>
          <a:prstGeom prst="roundRect">
            <a:avLst>
              <a:gd name="adj" fmla="val 1500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417320"/>
            <a:ext cx="336499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If I had to standardize now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5DD66B"/>
          </a:solidFill>
          <a:ln w="12700">
            <a:solidFill>
              <a:srgbClr val="5DD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4650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22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396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</a:rPr>
              <a:t>vLLM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DC5D8"/>
                </a:solidFill>
              </a:rPr>
              <a:t>Use as the default enterprise serving engine for mainstream GPU clusters and most self-hosted OSS model estates.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511296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38C9BF"/>
          </a:solidFill>
          <a:ln w="12700">
            <a:solidFill>
              <a:srgbClr val="38C9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20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9136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</a:rPr>
              <a:t>SGLang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" y="4407408"/>
            <a:ext cx="297180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DC5D8"/>
                </a:solidFill>
              </a:rPr>
              <a:t>Use when advanced serving controls, broader accelerator options, and faster feature velocity justify a slightly sharper operational edge.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90288" y="1298448"/>
            <a:ext cx="3291840" cy="1993392"/>
          </a:xfrm>
          <a:prstGeom prst="roundRect">
            <a:avLst>
              <a:gd name="adj" fmla="val 2752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1417320"/>
            <a:ext cx="299923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Specialized paths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36592" y="1682496"/>
            <a:ext cx="2999232" cy="1499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TensorRT-LLM for NVIDIA-only, throughput-first environments. llama.cpp for CPU, ARM64, edge, local, or GGUF-heavy estates.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101584" y="1298448"/>
            <a:ext cx="3419856" cy="1993392"/>
          </a:xfrm>
          <a:prstGeom prst="roundRect">
            <a:avLst>
              <a:gd name="adj" fmla="val 2752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1417320"/>
            <a:ext cx="312724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Control-plane rule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47888" y="1682496"/>
            <a:ext cx="3127248" cy="1499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Add Ray Serve LLM or Triton when cluster orchestration, autoscaling, routing, and fleet ops matter. Do not use them to avoid choosing a kernel.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590288" y="3657600"/>
            <a:ext cx="6931152" cy="2157984"/>
          </a:xfrm>
          <a:prstGeom prst="roundRect">
            <a:avLst>
              <a:gd name="adj" fmla="val 2542"/>
            </a:avLst>
          </a:prstGeom>
          <a:solidFill>
            <a:srgbClr val="10273B"/>
          </a:solidFill>
          <a:ln w="12700">
            <a:solidFill>
              <a:srgbClr val="29455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3776472"/>
            <a:ext cx="6638544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</a:rPr>
              <a:t>What not to miss in architecture review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36592" y="4041648"/>
            <a:ext cx="6638544" cy="1664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1) Hardware truth matters more than marketing breadth.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2) Prefix/KV reuse quality changes real-world economics.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3) Maintenance status is an architectural risk, not just a release note.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DC5D8"/>
                </a:solidFill>
              </a:rPr>
              <a:t>4) CPU support is often technically present but strategically secondary.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comparison of self-hosted LLM serving engines</dc:title>
  <dc:subject>Enterprise comparison of self-hosted LLM serving engines</dc:subject>
  <dc:creator>OpenAI</dc:creator>
  <cp:lastModifiedBy>OpenAI</cp:lastModifiedBy>
  <cp:revision>1</cp:revision>
  <dcterms:created xsi:type="dcterms:W3CDTF">2026-03-22T05:03:28Z</dcterms:created>
  <dcterms:modified xsi:type="dcterms:W3CDTF">2026-03-22T05:03:28Z</dcterms:modified>
</cp:coreProperties>
</file>